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B6C2D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6C2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무작위 기준선</c:v>
                  </c:pt>
                  <c:pt idx="1">
                    <c:v>Logistic</c:v>
                  </c:pt>
                  <c:pt idx="2">
                    <c:v>Random Forest</c:v>
                  </c:pt>
                  <c:pt idx="3">
                    <c:v>Gradient Boost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0.385</c:v>
                </c:pt>
                <c:pt idx="1">
                  <c:v>0.67</c:v>
                </c:pt>
                <c:pt idx="2">
                  <c:v>0.799</c:v>
                </c:pt>
                <c:pt idx="3">
                  <c:v>0.801</c:v>
                </c:pt>
                <c:pt idx="4">
                  <c:v>0.801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15E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1456F0"/>
            </a:solidFill>
            <a:ln w="38100" cap="flat">
              <a:solidFill>
                <a:srgbClr val="1456F0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56F0"/>
                    </a:solidFill>
                    <a:latin typeface="Pretendar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456F0"/>
              </a:solidFill>
              <a:ln w="9525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0.79</c:v>
                </c:pt>
                <c:pt idx="1">
                  <c:v>0.856</c:v>
                </c:pt>
                <c:pt idx="2">
                  <c:v>0.763</c:v>
                </c:pt>
                <c:pt idx="3">
                  <c:v>0.846</c:v>
                </c:pt>
                <c:pt idx="4">
                  <c:v>0.814</c:v>
                </c:pt>
                <c:pt idx="5">
                  <c:v>0.835</c:v>
                </c:pt>
              </c:numCache>
            </c:numRef>
          </c:val>
          <c:smooth val="1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456F0"/>
                  </a:solidFill>
                  <a:latin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15E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6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5515E"/>
                    </a:solidFill>
                    <a:latin typeface="Pretendard"/>
                  </a:defRPr>
                </a:pPr>
                <a:r>
                  <a:rPr sz="1000" b="0" i="0" u="none" strike="noStrike">
                    <a:solidFill>
                      <a:srgbClr val="45515E"/>
                    </a:solidFill>
                    <a:latin typeface="Pretendard"/>
                  </a:rPr>
                  <a:t>PR-AUC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CAPSTONE DESIGN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삭감 예측 기반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spc="-5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소득 지속성 분석 시스템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“얼마를 버는가”가 아니라 “그 소득이 얼마나 오래 살아남는가”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5760720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416052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PR-AUC 0.801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34640" y="41605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삭감 예측 정확도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873752"/>
            <a:ext cx="5760720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487375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0.76–0.86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34640" y="487375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검증(6년) 안정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5586984"/>
            <a:ext cx="5760720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558698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 종목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558698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DART 자동 수집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1234440"/>
            <a:ext cx="4983480" cy="4572000"/>
          </a:xfrm>
          <a:prstGeom prst="roundRect">
            <a:avLst>
              <a:gd name="adj" fmla="val 26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169164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69164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결과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2331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44세</a:t>
            </a:r>
            <a:endParaRPr lang="en-US" sz="6800" dirty="0"/>
          </a:p>
        </p:txBody>
      </p:sp>
      <p:sp>
        <p:nvSpPr>
          <p:cNvPr id="18" name="Text 16"/>
          <p:cNvSpPr/>
          <p:nvPr/>
        </p:nvSpPr>
        <p:spPr>
          <a:xfrm>
            <a:off x="717804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월배당 200만원 달성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78040" y="4160520"/>
            <a:ext cx="4114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98%</a:t>
            </a:r>
            <a:pPr indent="0" marL="0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목표 달성 확률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78040" y="5166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12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투자에는 세 가지 근본적 한계가 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서비스는 종목만 추천할 뿐, 목표·삭감 위험·소득 지속성을 답하지 못한다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자체 문제 정의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520440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계산의 부재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월배당까지 얼마가, 언제 필요한지 알려주지 않는다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24528" y="2286000"/>
            <a:ext cx="3520440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98848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삭감 위험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498848" y="3703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고배당일수록 삭감 위험이 크지만 아무도 경고하지 않는다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91856" y="2286000"/>
            <a:ext cx="3520440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66176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66176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소득 지속성 분석 부족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66176" y="37033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소득이 20년 뒤에도 유지되는지 분석하지 않는다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11274552" cy="868680"/>
          </a:xfrm>
          <a:prstGeom prst="roundRect">
            <a:avLst>
              <a:gd name="adj" fmla="val 13684"/>
            </a:avLst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시스템은 </a:t>
            </a:r>
            <a:pPr indent="0" marL="0">
              <a:buNone/>
            </a:pPr>
            <a:r>
              <a:rPr lang="en-US" sz="15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데이터와 AI</a:t>
            </a:r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이 세 가지를 정량적으로 계산하고, 투자자가 체감하는 ‘미래 소득’의 관점에서 답한다.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한 번으로 데이터 수집부터 대시보드까지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DART·yfinance → XGBoost → Monte Carlo → FIRE → React · 20개 필터의 Pipe-and-Filter 구조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시스템 아키텍처(자체)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011680" cy="24688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8720" y="2606040"/>
            <a:ext cx="548640" cy="548640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31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DART · yfinance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95728" y="3200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743200" y="2377440"/>
            <a:ext cx="2011680" cy="24688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2606040"/>
            <a:ext cx="548640" cy="548640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346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삭감 예측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017520" y="3931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3931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· SHAP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81728" y="3200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0" y="2377440"/>
            <a:ext cx="2011680" cy="24688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2606040"/>
            <a:ext cx="548640" cy="548640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생존확률 분석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303520" y="3931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3931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Monte Carlo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67728" y="3200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15200" y="2377440"/>
            <a:ext cx="2011680" cy="24688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0" y="2606040"/>
            <a:ext cx="548640" cy="548640"/>
          </a:xfrm>
          <a:prstGeom prst="ellipse">
            <a:avLst/>
          </a:prstGeom>
          <a:solidFill>
            <a:srgbClr val="F4F6F9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066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 달성나이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589520" y="3931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3931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 Engine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53728" y="3200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601200" y="2377440"/>
            <a:ext cx="2011680" cy="2468880"/>
          </a:xfrm>
          <a:prstGeom prst="roundRect">
            <a:avLst>
              <a:gd name="adj" fmla="val 5909"/>
            </a:avLst>
          </a:prstGeom>
          <a:solidFill>
            <a:srgbClr val="DBE8FE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332720" y="2606040"/>
            <a:ext cx="548640" cy="5486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37" name="Text 35"/>
          <p:cNvSpPr/>
          <p:nvPr/>
        </p:nvSpPr>
        <p:spPr>
          <a:xfrm>
            <a:off x="103327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6926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9875520" y="3931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3931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Recharts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5212080"/>
            <a:ext cx="11274552" cy="822960"/>
          </a:xfrm>
          <a:prstGeom prst="roundRect">
            <a:avLst>
              <a:gd name="adj" fmla="val 14444"/>
            </a:avLst>
          </a:prstGeom>
          <a:solidFill>
            <a:srgbClr val="F4F6F9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Pipe-and-Filter  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20개의 독립 필터가 순차 실행 — 하나가 실패해도 전체는 멈추지 않으며, pytest 149개 테스트로 검증.</a:t>
            </a:r>
            <a:endParaRPr lang="en-US" sz="13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377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40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442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4680"/>
                                  </p:stCondLst>
                                  <p:childTnLs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481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4940"/>
                                  </p:stCondLst>
                                  <p:childTnLst>
                                    <p:set>
                                      <p:cBhvr>
                                        <p:cTn id="16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507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화면으로 직접 시연합니다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25세·월 50만원·목표 200만원 입력 → 추천·위험·달성나이·생존확률을 한 번에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라이브 시연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데모에서 볼 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402336" cy="402336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7980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입력 (나이·투자금·목표 월배당)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402336" cy="402336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4381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포트폴리오 생성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402336" cy="402336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0782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삭감 위험 확인 (SHAP)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754880"/>
            <a:ext cx="402336" cy="402336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7183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 달성 나이 계산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394960"/>
            <a:ext cx="402336" cy="402336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5358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소득 지속성(생존확률) 분석</a:t>
            </a:r>
            <a:endParaRPr lang="en-US" sz="1500" dirty="0"/>
          </a:p>
        </p:txBody>
      </p:sp>
      <p:pic>
        <p:nvPicPr>
          <p:cNvPr id="23" name="Image 0" descr="/sessions/gallant-intelligent-carson/mnt/outputs/hero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286000"/>
            <a:ext cx="5212080" cy="3703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5800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결과 미리보기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25세 · 월 50만원 · 목표 200만원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858000" y="33832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 달성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85800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44세</a:t>
            </a:r>
            <a:endParaRPr lang="en-US" sz="3800" dirty="0"/>
          </a:p>
        </p:txBody>
      </p:sp>
      <p:sp>
        <p:nvSpPr>
          <p:cNvPr id="29" name="Shape 26"/>
          <p:cNvSpPr/>
          <p:nvPr/>
        </p:nvSpPr>
        <p:spPr>
          <a:xfrm>
            <a:off x="9281160" y="33832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9281160" y="3566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소득 안정성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281160" y="3840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92.4%</a:t>
            </a:r>
            <a:endParaRPr lang="en-US" sz="3200" dirty="0"/>
          </a:p>
        </p:txBody>
      </p:sp>
      <p:sp>
        <p:nvSpPr>
          <p:cNvPr id="32" name="Text 29"/>
          <p:cNvSpPr/>
          <p:nvPr/>
        </p:nvSpPr>
        <p:spPr>
          <a:xfrm>
            <a:off x="6858000" y="49834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AI-Optimized · Safe — 실제 화면 시연, 불가 시 캡처로 대체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377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25세에서 44세, 월배당 200만원까지의 경로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적립과 복리로 자산이 불어나는 과정을 시점별로 시각화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FIRE 엔진 시뮬레이션(자체)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88720" y="4297680"/>
            <a:ext cx="9784080" cy="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331720"/>
            <a:ext cx="228600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자산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552만원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16736" y="4151376"/>
            <a:ext cx="292608" cy="292608"/>
          </a:xfrm>
          <a:prstGeom prst="ellipse">
            <a:avLst/>
          </a:prstGeom>
          <a:solidFill>
            <a:srgbClr val="60A5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월배당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18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2.9만원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2331720"/>
            <a:ext cx="228600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4612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자산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7,280만원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59936" y="4151376"/>
            <a:ext cx="292608" cy="292608"/>
          </a:xfrm>
          <a:prstGeom prst="ellipse">
            <a:avLst/>
          </a:prstGeom>
          <a:solidFill>
            <a:srgbClr val="60A5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월배당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4818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38.8만원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89320" y="2331720"/>
            <a:ext cx="228600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8932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8932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자산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1.9억원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03136" y="4151376"/>
            <a:ext cx="292608" cy="292608"/>
          </a:xfrm>
          <a:prstGeom prst="ellipse">
            <a:avLst/>
          </a:prstGeom>
          <a:solidFill>
            <a:srgbClr val="60A5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월배당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4818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101만원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32520" y="2331720"/>
            <a:ext cx="2286000" cy="1325880"/>
          </a:xfrm>
          <a:prstGeom prst="roundRect">
            <a:avLst>
              <a:gd name="adj" fmla="val 8966"/>
            </a:avLst>
          </a:prstGeom>
          <a:solidFill>
            <a:srgbClr val="1456F0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3252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44세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73252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자산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3252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4.0억원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46336" y="4151376"/>
            <a:ext cx="292608" cy="292608"/>
          </a:xfrm>
          <a:prstGeom prst="ellipse">
            <a:avLst/>
          </a:prstGeom>
          <a:solidFill>
            <a:srgbClr val="1456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월배당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32520" y="4818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200만원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57200" y="5486400"/>
            <a:ext cx="11274552" cy="685800"/>
          </a:xfrm>
          <a:prstGeom prst="roundRect">
            <a:avLst>
              <a:gd name="adj" fmla="val 17333"/>
            </a:avLst>
          </a:prstGeom>
          <a:solidFill>
            <a:srgbClr val="F4F6F9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 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50만원 적립(연 7% 증액) · 세후 수익률 6.4% · 물가 2.5%  —  가정을 바꾸면 즉시 재계산된다.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377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40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442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&amp;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구축한 210종목, 최종 모델은 XGBoost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DART 자동 수집 파이프라인 · 동일 GroupKFold·PR-AUC 기준 모델 비교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DART OpenAPI 2013–2025 · 자체 분석</a:t>
            </a:r>
            <a:endParaRPr lang="en-US" sz="950" dirty="0"/>
          </a:p>
        </p:txBody>
      </p:sp>
      <p:pic>
        <p:nvPicPr>
          <p:cNvPr id="7" name="Image 0" descr="/sessions/gallant-intelligent-carson/mnt/ai-analyst/docs/images/fig_datapi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194560"/>
            <a:ext cx="11274552" cy="1600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977640"/>
            <a:ext cx="612648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4114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비교 — PR-AUC (무작위 기준선 0.385)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" y="4434840"/>
          <a:ext cx="59893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766560" y="3977640"/>
            <a:ext cx="4965192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766560" y="3977640"/>
            <a:ext cx="128016" cy="2148840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13" name="Text 9"/>
          <p:cNvSpPr/>
          <p:nvPr/>
        </p:nvSpPr>
        <p:spPr>
          <a:xfrm>
            <a:off x="7086600" y="4114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</a:t>
            </a:r>
            <a:pPr indent="0" marL="0">
              <a:buNone/>
            </a:pPr>
            <a:r>
              <a:rPr lang="en-US" sz="17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채택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132320" y="4718304"/>
            <a:ext cx="118872" cy="11887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5" name="Text 11"/>
          <p:cNvSpPr/>
          <p:nvPr/>
        </p:nvSpPr>
        <p:spPr>
          <a:xfrm>
            <a:off x="7360920" y="4626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 앙상블은 0.80 부근 수렴, LR은 0.670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132320" y="5157216"/>
            <a:ext cx="118872" cy="11887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7" name="Text 13"/>
          <p:cNvSpPr/>
          <p:nvPr/>
        </p:nvSpPr>
        <p:spPr>
          <a:xfrm>
            <a:off x="7360920" y="50657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ROC-AUC 0.801로 최상위 · SHAP 호환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132320" y="5596128"/>
            <a:ext cx="118872" cy="11887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9" name="Text 15"/>
          <p:cNvSpPr/>
          <p:nvPr/>
        </p:nvSpPr>
        <p:spPr>
          <a:xfrm>
            <a:off x="7360920" y="5504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상위 20% 경고 정밀도 0.96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보는 미래에도 성능이 유지된다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2019–2024 Out-of-Time Forward Backtest, PR-AUC 0.76–0.86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Out-of-Time Forward Backtest(자체)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7498080" cy="388620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연도별 PR-AUC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2697480"/>
          <a:ext cx="7315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0" name="Image 0" descr="/sessions/gallant-intelligent-carson/mnt/outputs/hero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240280"/>
            <a:ext cx="3502152" cy="1828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0" y="2423160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0.803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8229600" y="320040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전체(pooled) PR-AUC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32104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6년 내내 0.76–0.86 유지 · 코로나 2020 포함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4206240"/>
            <a:ext cx="3502152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41248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412480" y="4709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시기에 우연히 좋은 게 아니라, 여러 미래 구간에서 안정적으로 작동함을 입증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무엇을, 왜 위험으로 보는지 설명한다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피처 중요도와 SHAP 기반 종목별 근거 제시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SHAP TreeExplainer · 자체 분석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6766560" cy="388620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/sessions/gallant-intelligent-carson/mnt/ai-analyst/docs/images/fig4-11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377440"/>
            <a:ext cx="6492240" cy="3611880"/>
          </a:xfrm>
          <a:prstGeom prst="rect">
            <a:avLst/>
          </a:prstGeom>
        </p:spPr>
      </p:pic>
      <p:pic>
        <p:nvPicPr>
          <p:cNvPr id="9" name="Image 1" descr="/sessions/gallant-intelligent-carson/mnt/outputs/hero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240280"/>
            <a:ext cx="4279392" cy="1783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0" y="2468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61.6%   </a:t>
            </a:r>
            <a:pPr indent="0" marL="0">
              <a:buNone/>
            </a:pPr>
            <a:r>
              <a:rPr lang="en-US" sz="140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주당배당금 증감률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680960" y="3200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직전 배당 흐름의 변화가 가장 강력한 삭감 선행 신호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452360" y="4206240"/>
            <a:ext cx="4279392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635240" y="4315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— 어떤 종목을 왜 위험으로 판단했나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635240" y="4681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주당배당금 증감률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692640" y="4681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-18%  위험↑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635240" y="49926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부채비율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692640" y="49926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+12%p  위험↑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635240" y="5303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배당커버리지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9692640" y="5303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0.9배  위험↑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635240" y="5623560"/>
            <a:ext cx="3931920" cy="384048"/>
          </a:xfrm>
          <a:prstGeom prst="roundRect">
            <a:avLst>
              <a:gd name="adj" fmla="val 23810"/>
            </a:avLst>
          </a:prstGeom>
          <a:solidFill>
            <a:srgbClr val="DBE8FE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0" y="5623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삭감 위험확률  </a:t>
            </a:r>
            <a:pPr indent="0" marL="0">
              <a:buNone/>
            </a:pPr>
            <a:r>
              <a:rPr lang="en-US" sz="15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82%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중 만난 문제를 정의하고 해결했다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누수 · 미국 데이터 부족 · 지표 충돌을 각각 해결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개발 로그(자체)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520440" cy="384048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560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누수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1456F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77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GroupKFold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DBE8F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PR-AUC 0.80 확보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24528" y="2286000"/>
            <a:ext cx="3520440" cy="384048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98848" y="2560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8848" y="283464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48" y="2834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 데이터 부족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98848" y="3383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98848" y="3703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98848" y="397764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1456F0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977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Rule-based 분리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98848" y="4526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498848" y="4846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98848" y="512064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DBE8FE"/>
          </a:solidFill>
          <a:ln/>
        </p:spPr>
      </p:sp>
      <p:sp>
        <p:nvSpPr>
          <p:cNvPr id="30" name="Text 28"/>
          <p:cNvSpPr/>
          <p:nvPr/>
        </p:nvSpPr>
        <p:spPr>
          <a:xfrm>
            <a:off x="4498848" y="5120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PR-AUC 0.05 → 제외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991856" y="2286000"/>
            <a:ext cx="3520440" cy="384048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66176" y="2560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66176" y="283464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66176" y="2834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기준 충돌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66176" y="3383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266176" y="3703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66176" y="397764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1456F0"/>
          </a:solidFill>
          <a:ln/>
        </p:spPr>
      </p:sp>
      <p:sp>
        <p:nvSpPr>
          <p:cNvPr id="38" name="Text 36"/>
          <p:cNvSpPr/>
          <p:nvPr/>
        </p:nvSpPr>
        <p:spPr>
          <a:xfrm>
            <a:off x="8266176" y="3977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헤드라인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66176" y="4526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266176" y="4846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66176" y="5120640"/>
            <a:ext cx="2971800" cy="566928"/>
          </a:xfrm>
          <a:prstGeom prst="roundRect">
            <a:avLst>
              <a:gd name="adj" fmla="val 16129"/>
            </a:avLst>
          </a:prstGeom>
          <a:solidFill>
            <a:srgbClr val="DBE8FE"/>
          </a:solidFill>
          <a:ln/>
        </p:spPr>
      </p:sp>
      <p:sp>
        <p:nvSpPr>
          <p:cNvPr id="42" name="Text 40"/>
          <p:cNvSpPr/>
          <p:nvPr/>
        </p:nvSpPr>
        <p:spPr>
          <a:xfrm>
            <a:off x="8266176" y="51206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대시보드로 통합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377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40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442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4680"/>
                                  </p:stCondLst>
                                  <p:childTnLs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481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4940"/>
                                  </p:stCondLst>
                                  <p:childTnLst>
                                    <p:set>
                                      <p:cBhvr>
                                        <p:cTn id="16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507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‘종목 위험’을 ‘미래 소득 위험’으로 재정의했다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변동성(Volatility)이 아니라 소득 단절 위험(Income Risk)을 측정한다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자체 정의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892040" cy="3383280"/>
          </a:xfrm>
          <a:prstGeom prst="roundRect">
            <a:avLst>
              <a:gd name="adj" fmla="val 3514"/>
            </a:avLst>
          </a:prstGeom>
          <a:solidFill>
            <a:srgbClr val="F4F6F9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14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기존: 재무 위험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Volatility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83864"/>
            <a:ext cx="118872" cy="118872"/>
          </a:xfrm>
          <a:prstGeom prst="ellipse">
            <a:avLst/>
          </a:prstGeom>
          <a:solidFill>
            <a:srgbClr val="8E8E93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3924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주가 변동성·베타 중심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105656"/>
            <a:ext cx="118872" cy="118872"/>
          </a:xfrm>
          <a:prstGeom prst="ellipse">
            <a:avLst/>
          </a:prstGeom>
          <a:solidFill>
            <a:srgbClr val="8E8E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 종목이 얼마나 흔들리나”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727448"/>
            <a:ext cx="118872" cy="118872"/>
          </a:xfrm>
          <a:prstGeom prst="ellipse">
            <a:avLst/>
          </a:prstGeom>
          <a:solidFill>
            <a:srgbClr val="8E8E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6360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개인의 목표·소득과 무관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532120" y="3657600"/>
            <a:ext cx="960120" cy="960120"/>
          </a:xfrm>
          <a:prstGeom prst="ellipse">
            <a:avLst/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36118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3200" dirty="0"/>
          </a:p>
        </p:txBody>
      </p:sp>
      <p:pic>
        <p:nvPicPr>
          <p:cNvPr id="18" name="Image 0" descr="/sessions/gallant-intelligent-carson/mnt/outputs/hero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056632" cy="3383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95160" y="2514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시스템: 소득 위험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95160" y="2926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Risk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040880" y="3483864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7269480" y="33924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삭감 확률(ML) 중심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040880" y="4105656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7269480" y="40142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월소득이 끊길 위험”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040880" y="4727448"/>
            <a:ext cx="118872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7269480" y="46360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목표·생존확률·FIRE와 직접 연결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종목 위험을 ‘미래 소득 위험’으로 변환한 것이 핵심 기여 — 배당 ‘추천기’가 아니라 소득 ‘지속성 플랫폼’이다.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서비스와의 결정적 차이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월배당 역산 · 생존확률 · FIRE 역산을 하나로 통합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각 서비스 공개 정보 · 자체 정리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834640" cy="548640"/>
          </a:xfrm>
          <a:prstGeom prst="rect">
            <a:avLst/>
          </a:prstGeom>
          <a:solidFill>
            <a:srgbClr val="181E2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2240280"/>
            <a:ext cx="1828800" cy="548640"/>
          </a:xfrm>
          <a:prstGeom prst="rect">
            <a:avLst/>
          </a:prstGeom>
          <a:solidFill>
            <a:srgbClr val="181E25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증권사 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0" y="2240280"/>
            <a:ext cx="1554480" cy="548640"/>
          </a:xfrm>
          <a:prstGeom prst="rect">
            <a:avLst/>
          </a:prstGeom>
          <a:solidFill>
            <a:srgbClr val="181E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240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0" y="2240280"/>
            <a:ext cx="2743200" cy="548640"/>
          </a:xfrm>
          <a:prstGeom prst="rect">
            <a:avLst/>
          </a:prstGeom>
          <a:solidFill>
            <a:srgbClr val="181E25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Visualizer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18320" y="2240280"/>
            <a:ext cx="2313432" cy="548640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22402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Cashflow 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정보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78892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788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27889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75120" y="278892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418320" y="2788920"/>
            <a:ext cx="2313432" cy="548640"/>
          </a:xfrm>
          <a:prstGeom prst="rect">
            <a:avLst/>
          </a:prstGeom>
          <a:solidFill>
            <a:srgbClr val="DBE8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278892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2834640" cy="54864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283464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삭감 예측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3337560"/>
            <a:ext cx="1828800" cy="54864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20640" y="3337560"/>
            <a:ext cx="1554480" cy="54864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337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△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75120" y="3337560"/>
            <a:ext cx="2743200" cy="54864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418320" y="3337560"/>
            <a:ext cx="2313432" cy="548640"/>
          </a:xfrm>
          <a:prstGeom prst="rect">
            <a:avLst/>
          </a:prstGeom>
          <a:solidFill>
            <a:srgbClr val="DBE8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333756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월배당 역산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91840" y="388620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886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120640" y="388620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886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675120" y="388620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418320" y="3886200"/>
            <a:ext cx="2313432" cy="548640"/>
          </a:xfrm>
          <a:prstGeom prst="rect">
            <a:avLst/>
          </a:prstGeom>
          <a:solidFill>
            <a:srgbClr val="DBE8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388620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" y="4434840"/>
            <a:ext cx="2834640" cy="54864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434840"/>
            <a:ext cx="283464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FIRE 목표 역산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291840" y="4434840"/>
            <a:ext cx="1828800" cy="54864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120640" y="4434840"/>
            <a:ext cx="1554480" cy="54864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0" y="4434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675120" y="4434840"/>
            <a:ext cx="2743200" cy="54864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418320" y="4434840"/>
            <a:ext cx="2313432" cy="548640"/>
          </a:xfrm>
          <a:prstGeom prst="rect">
            <a:avLst/>
          </a:prstGeom>
          <a:solidFill>
            <a:srgbClr val="DBE8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18320" y="44348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57200" y="4983480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983480"/>
            <a:ext cx="283464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소득 생존확률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291840" y="4983480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4983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120640" y="49834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20640" y="4983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675120" y="498348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75120" y="4983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2C7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9418320" y="4983480"/>
            <a:ext cx="2313432" cy="548640"/>
          </a:xfrm>
          <a:prstGeom prst="rect">
            <a:avLst/>
          </a:prstGeom>
          <a:solidFill>
            <a:srgbClr val="DBE8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18320" y="49834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20968"/>
            </a:avLst>
          </a:prstGeom>
          <a:solidFill>
            <a:srgbClr val="181E25"/>
          </a:solidFill>
          <a:ln/>
        </p:spPr>
      </p:sp>
      <p:sp>
        <p:nvSpPr>
          <p:cNvPr id="68" name="Text 66"/>
          <p:cNvSpPr/>
          <p:nvPr/>
        </p:nvSpPr>
        <p:spPr>
          <a:xfrm>
            <a:off x="731520" y="571500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서비스는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‘무엇을 살까’</a:t>
            </a:r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돕고,  Cashflow OS는 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‘언제 목표를 달성할까’</a:t>
            </a:r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계산한다.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377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3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403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3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442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3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4680"/>
                                  </p:stCondLst>
                                  <p:childTnLs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3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481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4940"/>
                                  </p:stCondLst>
                                  <p:childTnLst>
                                    <p:set>
                                      <p:cBhvr>
                                        <p:cTn id="16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507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3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5330"/>
                                  </p:stCondLst>
                                  <p:childTnLst>
                                    <p:set>
                                      <p:cBhvr>
                                        <p:cTn id="17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3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79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3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559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3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5720"/>
                                  </p:stCondLst>
                                  <p:childTnLst>
                                    <p:set>
                                      <p:cBhvr>
                                        <p:cTn id="187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3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3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598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3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6110"/>
                                  </p:stCondLst>
                                  <p:childTnLst>
                                    <p:set>
                                      <p:cBhvr>
                                        <p:cTn id="199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3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6240"/>
                                  </p:stCondLst>
                                  <p:childTnLst>
                                    <p:set>
                                      <p:cBhvr>
                                        <p:cTn id="203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3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6370"/>
                                  </p:stCondLst>
                                  <p:childTnLst>
                                    <p:set>
                                      <p:cBhvr>
                                        <p:cTn id="207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3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3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6630"/>
                                  </p:stCondLst>
                                  <p:childTnLst>
                                    <p:set>
                                      <p:cBhvr>
                                        <p:cTn id="21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3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6760"/>
                                  </p:stCondLst>
                                  <p:childTnLst>
                                    <p:set>
                                      <p:cBhvr>
                                        <p:cTn id="219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3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6890"/>
                                  </p:stCondLst>
                                  <p:childTnLst>
                                    <p:set>
                                      <p:cBhvr>
                                        <p:cTn id="223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3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7020"/>
                                  </p:stCondLst>
                                  <p:childTnLst>
                                    <p:set>
                                      <p:cBhvr>
                                        <p:cTn id="227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3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715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3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7280"/>
                                  </p:stCondLst>
                                  <p:childTnLst>
                                    <p:set>
                                      <p:cBhvr>
                                        <p:cTn id="235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7410"/>
                                  </p:stCondLst>
                                  <p:childTnLst>
                                    <p:set>
                                      <p:cBhvr>
                                        <p:cTn id="239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3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7540"/>
                                  </p:stCondLst>
                                  <p:childTnLst>
                                    <p:set>
                                      <p:cBhvr>
                                        <p:cTn id="243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3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7670"/>
                                  </p:stCondLst>
                                  <p:childTnLst>
                                    <p:set>
                                      <p:cBhvr>
                                        <p:cTn id="247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3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3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7930"/>
                                  </p:stCondLst>
                                  <p:childTnLst>
                                    <p:set>
                                      <p:cBhvr>
                                        <p:cTn id="255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3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8060"/>
                                  </p:stCondLst>
                                  <p:childTnLst>
                                    <p:set>
                                      <p:cBhvr>
                                        <p:cTn id="259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3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8190"/>
                                  </p:stCondLst>
                                  <p:childTnLst>
                                    <p:set>
                                      <p:cBhvr>
                                        <p:cTn id="263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3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5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8320"/>
                                  </p:stCondLst>
                                  <p:childTnLst>
                                    <p:set>
                                      <p:cBhvr>
                                        <p:cTn id="267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3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845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3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8580"/>
                                  </p:stCondLst>
                                  <p:childTnLst>
                                    <p:set>
                                      <p:cBhvr>
                                        <p:cTn id="275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3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7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핵심 성과 및 결론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예측·검증·FIRE·소득 지속성 분석을 모두 구현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종합(자체)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8640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560320"/>
            <a:ext cx="411480" cy="41148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4323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배당 삭감 예측 모델 구축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798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PR-AUC 0.801 · 상위 20% 정밀도 0.96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548640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560320"/>
            <a:ext cx="411480" cy="41148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24323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검증(Out-of-Time) 수행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03720" y="2798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2019–2024 PR-AUC 0.76–0.86 유지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48640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657600"/>
            <a:ext cx="411480" cy="41148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529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목표 기반 FIRE 엔진 구현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34440" y="38953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25세 → 44세 월배당 200만원 달성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3383280"/>
            <a:ext cx="548640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3657600"/>
            <a:ext cx="411480" cy="41148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3529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소득 지속성 분석 시스템 구현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03720" y="38953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생존확률 기반 현금흐름 관리</a:t>
            </a:r>
            <a:endParaRPr lang="en-US" sz="1150" dirty="0"/>
          </a:p>
        </p:txBody>
      </p:sp>
      <p:pic>
        <p:nvPicPr>
          <p:cNvPr id="27" name="Image 0" descr="/sessions/gallant-intelligent-carson/mnt/outputs/hero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17720"/>
            <a:ext cx="11274552" cy="1463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" y="4846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“얼마를 버는가”가 아니라 “그 소득이 얼마나 오래 살아남는가”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8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종목 위험을 미래 소득 위험으로 바꾼 소득 지속성 분석 시스템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2743200" y="-2743200"/>
            <a:ext cx="7315200" cy="7315200"/>
          </a:xfrm>
          <a:prstGeom prst="roundRect">
            <a:avLst>
              <a:gd name="adj" fmla="val 7500"/>
            </a:avLst>
          </a:prstGeom>
          <a:solidFill>
            <a:srgbClr val="F5F9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0" dist="50800" dir="5400000">
              <a:srgbClr val="1E3A8A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5029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81328" y="5212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OUTCOME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8046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성과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77800" dist="63500" dir="5400000">
              <a:srgbClr val="1E3A8A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17627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배당 삭감 예측 모델 구축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91640" y="2404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PR-AUC 0.801 · 상위 20% 정밀도 0.96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77800" dist="63500" dir="5400000">
              <a:srgbClr val="1E3A8A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217627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미래 검증(Out-of-Time) 수행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132320" y="2404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2019–2024 PR-AUC 0.76–0.86 유지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20040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77800" dist="63500" dir="5400000">
              <a:srgbClr val="1E3A8A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51560" y="359359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3383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 목표 기반 FIRE 엔진 구현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691640" y="38221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25세 → 44세 월배당 200만원 달성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20040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77800" dist="63500" dir="5400000">
              <a:srgbClr val="1E3A8A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92240" y="359359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3383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소득 지속성 분석 시스템 구현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132320" y="38221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생존확률 기반 현금흐름 관리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4754880"/>
            <a:ext cx="10607040" cy="1417320"/>
          </a:xfrm>
          <a:prstGeom prst="roundRect">
            <a:avLst>
              <a:gd name="adj" fmla="val 9032"/>
            </a:avLst>
          </a:prstGeom>
          <a:solidFill>
            <a:srgbClr val="14233A"/>
          </a:solidFill>
          <a:ln/>
          <a:effectLst>
            <a:outerShdw sx="100000" sy="100000" kx="0" ky="0" algn="bl" rotWithShape="0" blurRad="177800" dist="63500" dir="5400000">
              <a:srgbClr val="1E3A8A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88720" y="4983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“얼마를 버는가”가 아니라 “그 소득이 얼마나 오래 살아남는가”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4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종목 위험을 미래 소득 위험으로 바꾼 소득 지속성 분석 시스템.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47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273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99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351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배당 삭감 예측 기반 AI 소득 지속성 분석 시스템</dc:title>
  <dc:subject>PptxGenJS Presentation</dc:subject>
  <dc:creator>김태홍</dc:creator>
  <cp:lastModifiedBy>김태홍</cp:lastModifiedBy>
  <cp:revision>1</cp:revision>
  <dcterms:created xsi:type="dcterms:W3CDTF">2026-06-09T03:58:39Z</dcterms:created>
  <dcterms:modified xsi:type="dcterms:W3CDTF">2026-06-09T03:58:39Z</dcterms:modified>
</cp:coreProperties>
</file>