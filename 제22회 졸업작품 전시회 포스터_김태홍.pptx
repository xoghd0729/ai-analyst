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sldIdLst>
    <p:sldId id="258" r:id="rId2"/>
  </p:sldIdLst>
  <p:sldSz cx="7559675" cy="10691813"/>
  <p:notesSz cx="7104063" cy="10234613"/>
  <p:embeddedFontLst>
    <p:embeddedFont>
      <p:font typeface="KoPubWorld돋움체 Bold" panose="00000800000000000000" pitchFamily="2" charset="-127"/>
      <p:bold r:id="rId3"/>
    </p:embeddedFont>
    <p:embeddedFont>
      <p:font typeface="KoPubWorld돋움체 Medium" panose="00000600000000000000" pitchFamily="2" charset="-127"/>
      <p:regular r:id="rId4"/>
    </p:embeddedFon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Calibri Light" panose="020F0302020204030204" pitchFamily="34" charset="0"/>
      <p:regular r:id="rId9"/>
      <p:italic r:id="rId10"/>
    </p:embeddedFont>
    <p:embeddedFont>
      <p:font typeface="SB 어그로 Medium" panose="02020603020101020101" pitchFamily="18" charset="-127"/>
      <p:regular r:id="rId11"/>
    </p:embeddedFont>
    <p:embeddedFont>
      <p:font typeface="카페24 써라운드" pitchFamily="2" charset="-127"/>
      <p:bold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A9C7"/>
    <a:srgbClr val="E8AAAA"/>
    <a:srgbClr val="6C6B9D"/>
    <a:srgbClr val="6F81B5"/>
    <a:srgbClr val="E6E6E6"/>
    <a:srgbClr val="8FC5B4"/>
    <a:srgbClr val="7170A0"/>
    <a:srgbClr val="7D7CA8"/>
    <a:srgbClr val="A6A5C3"/>
    <a:srgbClr val="807F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31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1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presProps" Target="presProp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font" Target="fonts/font1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BF9F-E56A-4E16-8437-40BE11921EE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7C96-CDB4-44C5-AC9F-C6DF987A3A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4823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BF9F-E56A-4E16-8437-40BE11921EE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7C96-CDB4-44C5-AC9F-C6DF987A3A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25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BF9F-E56A-4E16-8437-40BE11921EE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7C96-CDB4-44C5-AC9F-C6DF987A3A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615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BF9F-E56A-4E16-8437-40BE11921EE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7C96-CDB4-44C5-AC9F-C6DF987A3A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565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BF9F-E56A-4E16-8437-40BE11921EE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7C96-CDB4-44C5-AC9F-C6DF987A3A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274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BF9F-E56A-4E16-8437-40BE11921EE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7C96-CDB4-44C5-AC9F-C6DF987A3A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55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BF9F-E56A-4E16-8437-40BE11921EE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7C96-CDB4-44C5-AC9F-C6DF987A3A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235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BF9F-E56A-4E16-8437-40BE11921EE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7C96-CDB4-44C5-AC9F-C6DF987A3A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809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BF9F-E56A-4E16-8437-40BE11921EE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7C96-CDB4-44C5-AC9F-C6DF987A3A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115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BF9F-E56A-4E16-8437-40BE11921EE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7C96-CDB4-44C5-AC9F-C6DF987A3A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171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9BF9F-E56A-4E16-8437-40BE11921EE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C7C96-CDB4-44C5-AC9F-C6DF987A3A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008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9BF9F-E56A-4E16-8437-40BE11921EE1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C7C96-CDB4-44C5-AC9F-C6DF987A3A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268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1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1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1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1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-2"/>
            <a:ext cx="7559675" cy="391195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1" name="그룹 70"/>
          <p:cNvGrpSpPr/>
          <p:nvPr/>
        </p:nvGrpSpPr>
        <p:grpSpPr>
          <a:xfrm>
            <a:off x="6018507" y="3072614"/>
            <a:ext cx="1148192" cy="490969"/>
            <a:chOff x="6204719" y="3179035"/>
            <a:chExt cx="1148192" cy="490969"/>
          </a:xfrm>
          <a:solidFill>
            <a:schemeClr val="bg2">
              <a:lumMod val="90000"/>
            </a:schemeClr>
          </a:solidFill>
        </p:grpSpPr>
        <p:sp>
          <p:nvSpPr>
            <p:cNvPr id="76" name="직사각형 75"/>
            <p:cNvSpPr/>
            <p:nvPr/>
          </p:nvSpPr>
          <p:spPr>
            <a:xfrm>
              <a:off x="6217057" y="3179035"/>
              <a:ext cx="1135854" cy="3175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웹사이트</a:t>
              </a: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6204719" y="3381663"/>
              <a:ext cx="1148192" cy="288341"/>
            </a:xfrm>
            <a:prstGeom prst="rect">
              <a:avLst/>
            </a:prstGeom>
            <a:grpFill/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48"/>
          <a:stretch/>
        </p:blipFill>
        <p:spPr>
          <a:xfrm>
            <a:off x="310" y="0"/>
            <a:ext cx="7559055" cy="209108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3364888"/>
            <a:ext cx="7572738" cy="7326925"/>
          </a:xfrm>
          <a:prstGeom prst="rect">
            <a:avLst/>
          </a:prstGeom>
          <a:solidFill>
            <a:srgbClr val="E8AAA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7" name="모서리가 둥근 직사각형 96"/>
          <p:cNvSpPr/>
          <p:nvPr/>
        </p:nvSpPr>
        <p:spPr>
          <a:xfrm>
            <a:off x="3947858" y="3799302"/>
            <a:ext cx="1181896" cy="1020602"/>
          </a:xfrm>
          <a:prstGeom prst="roundRect">
            <a:avLst/>
          </a:prstGeom>
          <a:solidFill>
            <a:srgbClr val="E9E7E8"/>
          </a:solidFill>
          <a:ln>
            <a:noFill/>
          </a:ln>
          <a:effectLst>
            <a:outerShdw blurRad="635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3947860" y="3936855"/>
            <a:ext cx="1181894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300" spc="-50" dirty="0">
                <a:solidFill>
                  <a:srgbClr val="67658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주요기능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3947858" y="4136869"/>
            <a:ext cx="1181896" cy="207886"/>
          </a:xfrm>
          <a:prstGeom prst="rect">
            <a:avLst/>
          </a:prstGeom>
          <a:solidFill>
            <a:srgbClr val="606060">
              <a:alpha val="1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모서리가 둥근 직사각형 92"/>
          <p:cNvSpPr/>
          <p:nvPr/>
        </p:nvSpPr>
        <p:spPr>
          <a:xfrm>
            <a:off x="405604" y="3799302"/>
            <a:ext cx="1181896" cy="1020602"/>
          </a:xfrm>
          <a:prstGeom prst="roundRect">
            <a:avLst/>
          </a:prstGeom>
          <a:solidFill>
            <a:srgbClr val="E9E7E8"/>
          </a:solidFill>
          <a:ln>
            <a:noFill/>
          </a:ln>
          <a:effectLst>
            <a:outerShdw blurRad="635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405606" y="3936855"/>
            <a:ext cx="1181894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300" spc="-50" dirty="0">
                <a:solidFill>
                  <a:srgbClr val="67658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개발환경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405604" y="4136869"/>
            <a:ext cx="1181896" cy="207886"/>
          </a:xfrm>
          <a:prstGeom prst="rect">
            <a:avLst/>
          </a:prstGeom>
          <a:solidFill>
            <a:srgbClr val="606060">
              <a:alpha val="1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/>
          <p:cNvSpPr/>
          <p:nvPr/>
        </p:nvSpPr>
        <p:spPr>
          <a:xfrm>
            <a:off x="405606" y="4222207"/>
            <a:ext cx="3205418" cy="22087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100" dir="2580000" sx="99000" sy="99000" algn="t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05606" y="1520849"/>
            <a:ext cx="6747668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2200" spc="-100" dirty="0">
                <a:solidFill>
                  <a:schemeClr val="accent2">
                    <a:lumMod val="60000"/>
                    <a:lumOff val="40000"/>
                  </a:schemeClr>
                </a:solidFill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AI 기반 배당·포트폴리오 최적화 시스템 FinSight</a:t>
            </a:r>
            <a:endParaRPr lang="ko-KR" altLang="en-US" sz="2200" spc="-100" dirty="0">
              <a:solidFill>
                <a:schemeClr val="accent2">
                  <a:lumMod val="60000"/>
                  <a:lumOff val="40000"/>
                </a:schemeClr>
              </a:solidFill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5606" y="926864"/>
            <a:ext cx="4127500" cy="480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 spc="-50" dirty="0" smtClean="0"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제</a:t>
            </a:r>
            <a:r>
              <a:rPr lang="en-US" altLang="ko-KR" sz="1300" spc="-50" dirty="0" smtClean="0"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22</a:t>
            </a:r>
            <a:r>
              <a:rPr lang="ko-KR" altLang="en-US" sz="1300" spc="-50" dirty="0" smtClean="0"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회 </a:t>
            </a:r>
            <a:r>
              <a:rPr lang="ko-KR" altLang="en-US" sz="1300" spc="-50" dirty="0"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졸업작품전시회</a:t>
            </a:r>
            <a:endParaRPr lang="en-US" altLang="ko-KR" sz="1300" spc="-50" dirty="0">
              <a:latin typeface="SB 어그로 Medium" panose="02020603020101020101" pitchFamily="18" charset="-127"/>
              <a:ea typeface="SB 어그로 Medium" panose="02020603020101020101" pitchFamily="18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300" spc="-50" dirty="0">
                <a:latin typeface="SB 어그로 Medium" panose="02020603020101020101" pitchFamily="18" charset="-127"/>
                <a:ea typeface="SB 어그로 Medium" panose="02020603020101020101" pitchFamily="18" charset="-127"/>
              </a:rPr>
              <a:t>한국성서대학교 컴퓨터소프트웨어학과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795" y="2132064"/>
            <a:ext cx="851694" cy="24622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ko-KR" altLang="en-US" sz="1600" spc="-50" dirty="0">
                <a:solidFill>
                  <a:schemeClr val="accent2">
                    <a:lumMod val="60000"/>
                    <a:lumOff val="40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작품소개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299" y="2102670"/>
            <a:ext cx="5909038" cy="7755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ko-KR" altLang="en-US" sz="1400" spc="-5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FinSight는 AI·데이터 분석을 활용한 배당 분석 및 포트폴리오 최적화 시스템이다. 투자금 기반 배당 수익 예측, 과거 백테스팅(2015-2024), MPT 기반 자산 배분 최적화를 통해 합리적인 투자 의사결정을 지원한다.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1198" y="4443605"/>
            <a:ext cx="2835814" cy="15234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spc="-20" dirty="0" smtClean="0">
                <a:solidFill>
                  <a:srgbClr val="606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Backend : Python, FastAPI</a:t>
            </a:r>
          </a:p>
          <a:p>
            <a:pPr>
              <a:lnSpc>
                <a:spcPct val="150000"/>
              </a:lnSpc>
            </a:pPr>
            <a:r>
              <a:rPr lang="en-US" altLang="ko-KR" sz="1100" spc="-20" dirty="0" smtClean="0">
                <a:solidFill>
                  <a:srgbClr val="606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Frontend : React, JavaScript</a:t>
            </a:r>
          </a:p>
          <a:p>
            <a:pPr>
              <a:lnSpc>
                <a:spcPct val="150000"/>
              </a:lnSpc>
            </a:pPr>
            <a:r>
              <a:rPr lang="en-US" altLang="ko-KR" sz="1100" spc="-20" dirty="0" smtClean="0">
                <a:solidFill>
                  <a:srgbClr val="606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DB : PostgreSQL</a:t>
            </a:r>
          </a:p>
          <a:p>
            <a:pPr>
              <a:lnSpc>
                <a:spcPct val="150000"/>
              </a:lnSpc>
            </a:pPr>
            <a:r>
              <a:rPr lang="en-US" altLang="ko-KR" sz="1100" spc="-20" dirty="0" smtClean="0">
                <a:solidFill>
                  <a:srgbClr val="606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Data Analysis : Pandas, NumPy</a:t>
            </a:r>
          </a:p>
          <a:p>
            <a:pPr>
              <a:lnSpc>
                <a:spcPct val="150000"/>
              </a:lnSpc>
            </a:pPr>
            <a:r>
              <a:rPr lang="en-US" altLang="ko-KR" sz="1100" spc="-20" dirty="0" smtClean="0">
                <a:solidFill>
                  <a:srgbClr val="606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AI/ML : 생존분석 기반 배당 지속성 분석</a:t>
            </a:r>
          </a:p>
          <a:p>
            <a:pPr>
              <a:lnSpc>
                <a:spcPct val="150000"/>
              </a:lnSpc>
            </a:pPr>
            <a:r>
              <a:rPr lang="en-US" altLang="ko-KR" sz="1100" spc="-20" dirty="0" err="1" smtClean="0">
                <a:solidFill>
                  <a:srgbClr val="606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Portfolio Optimization : MPT (scipy)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37354" y="10175297"/>
            <a:ext cx="2215920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ko-KR" altLang="en-US" sz="1100" spc="-50" dirty="0">
                <a:solidFill>
                  <a:srgbClr val="6D695D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한국성서대학교 컴퓨터소프트웨어학과</a:t>
            </a:r>
          </a:p>
        </p:txBody>
      </p:sp>
      <p:pic>
        <p:nvPicPr>
          <p:cNvPr id="107" name="그림 10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04" y="10119616"/>
            <a:ext cx="1238209" cy="270572"/>
          </a:xfrm>
          <a:prstGeom prst="rect">
            <a:avLst/>
          </a:prstGeom>
        </p:spPr>
      </p:pic>
      <p:sp>
        <p:nvSpPr>
          <p:cNvPr id="59" name="모서리가 둥근 직사각형 58"/>
          <p:cNvSpPr/>
          <p:nvPr/>
        </p:nvSpPr>
        <p:spPr>
          <a:xfrm>
            <a:off x="405604" y="6768542"/>
            <a:ext cx="1181896" cy="1020602"/>
          </a:xfrm>
          <a:prstGeom prst="roundRect">
            <a:avLst/>
          </a:prstGeom>
          <a:solidFill>
            <a:srgbClr val="E9E7E8"/>
          </a:solidFill>
          <a:ln>
            <a:noFill/>
          </a:ln>
          <a:effectLst>
            <a:outerShdw blurRad="635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405606" y="6906095"/>
            <a:ext cx="1181894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300" spc="-50" dirty="0">
                <a:solidFill>
                  <a:srgbClr val="67658E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작품 시연 화면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405604" y="7106109"/>
            <a:ext cx="1181896" cy="207886"/>
          </a:xfrm>
          <a:prstGeom prst="rect">
            <a:avLst/>
          </a:prstGeom>
          <a:solidFill>
            <a:srgbClr val="606060">
              <a:alpha val="1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405605" y="7191447"/>
            <a:ext cx="6760731" cy="2703732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63500" dist="38100" dir="2580000" sx="99000" sy="99000" algn="t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직사각형 107"/>
          <p:cNvSpPr/>
          <p:nvPr/>
        </p:nvSpPr>
        <p:spPr>
          <a:xfrm>
            <a:off x="3947856" y="4222207"/>
            <a:ext cx="3205418" cy="22087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100" dir="2580000" sx="99000" sy="99000" algn="t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/>
          <p:cNvSpPr txBox="1"/>
          <p:nvPr/>
        </p:nvSpPr>
        <p:spPr>
          <a:xfrm>
            <a:off x="4132658" y="4443605"/>
            <a:ext cx="2835814" cy="15234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spc="-50" dirty="0" smtClean="0">
                <a:solidFill>
                  <a:srgbClr val="606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AI 기반 배당 안정성 분석 (생존분석 모델)</a:t>
            </a:r>
          </a:p>
          <a:p>
            <a:pPr>
              <a:lnSpc>
                <a:spcPct val="150000"/>
              </a:lnSpc>
            </a:pPr>
            <a:r>
              <a:rPr lang="en-US" altLang="ko-KR" sz="1100" spc="-50" dirty="0" smtClean="0">
                <a:solidFill>
                  <a:srgbClr val="606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FIRE 목표 기반 투자금 역산 계산</a:t>
            </a:r>
          </a:p>
          <a:p>
            <a:pPr>
              <a:lnSpc>
                <a:spcPct val="150000"/>
              </a:lnSpc>
            </a:pPr>
            <a:r>
              <a:rPr lang="en-US" altLang="ko-KR" sz="1100" spc="-50" dirty="0" smtClean="0">
                <a:solidFill>
                  <a:srgbClr val="606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모델음테카를로 시뮬레이션으로 미래 현금흐름 예측 (P10/P50/P90)</a:t>
            </a:r>
          </a:p>
          <a:p>
            <a:pPr>
              <a:lnSpc>
                <a:spcPct val="150000"/>
              </a:lnSpc>
            </a:pPr>
            <a:r>
              <a:rPr lang="en-US" altLang="ko-KR" sz="1100" spc="-50" dirty="0" smtClean="0">
                <a:solidFill>
                  <a:srgbClr val="606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MPT 포트폴리오 최적화 및 효율적 프론티어</a:t>
            </a:r>
          </a:p>
          <a:p>
            <a:pPr>
              <a:lnSpc>
                <a:spcPct val="150000"/>
              </a:lnSpc>
            </a:pPr>
            <a:r>
              <a:rPr lang="en-US" altLang="ko-KR" sz="1100" spc="-50" dirty="0" smtClean="0">
                <a:solidFill>
                  <a:srgbClr val="606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5. 백테스팅으로 2015-2024 과거 수익률 검증</a:t>
            </a:r>
          </a:p>
          <a:p>
            <a:pPr>
              <a:lnSpc>
                <a:spcPct val="150000"/>
              </a:lnSpc>
            </a:pPr>
            <a:r>
              <a:rPr lang="en-US" altLang="ko-KR" sz="1100" spc="-50" dirty="0" smtClean="0">
                <a:solidFill>
                  <a:srgbClr val="606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18144" y="448378"/>
            <a:ext cx="1135130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ko-KR" sz="1400" spc="-50" dirty="0" smtClean="0">
                <a:latin typeface="SB 어그로 Medium" panose="02020603020101020101" pitchFamily="18" charset="-127"/>
                <a:ea typeface="SB 어그로 Medium" panose="02020603020101020101" pitchFamily="18" charset="-127"/>
                <a:cs typeface="KoPubWorld돋움체 Bold" panose="00000800000000000000" pitchFamily="2" charset="-127"/>
              </a:rPr>
              <a:t>[학번]</a:t>
            </a:r>
          </a:p>
          <a:p>
            <a:r>
              <a:rPr lang="ko-KR" altLang="en-US" sz="1400" spc="-50" dirty="0" smtClean="0">
                <a:latin typeface="SB 어그로 Medium" panose="02020603020101020101" pitchFamily="18" charset="-127"/>
                <a:ea typeface="SB 어그로 Medium" panose="02020603020101020101" pitchFamily="18" charset="-127"/>
                <a:cs typeface="KoPubWorld돋움체 Bold" panose="00000800000000000000" pitchFamily="2" charset="-127"/>
              </a:rPr>
              <a:t>김태홍</a:t>
            </a:r>
            <a:endParaRPr lang="ko-KR" altLang="en-US" sz="1400" spc="-50" dirty="0">
              <a:latin typeface="SB 어그로 Medium" panose="02020603020101020101" pitchFamily="18" charset="-127"/>
              <a:ea typeface="SB 어그로 Medium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75" name="타원 74"/>
          <p:cNvSpPr/>
          <p:nvPr/>
        </p:nvSpPr>
        <p:spPr>
          <a:xfrm>
            <a:off x="5340353" y="348632"/>
            <a:ext cx="568800" cy="568800"/>
          </a:xfrm>
          <a:prstGeom prst="ellipse">
            <a:avLst/>
          </a:prstGeom>
          <a:solidFill>
            <a:srgbClr val="6C6B9D"/>
          </a:solidFill>
          <a:ln>
            <a:solidFill>
              <a:srgbClr val="7170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/>
          <p:cNvSpPr txBox="1"/>
          <p:nvPr/>
        </p:nvSpPr>
        <p:spPr>
          <a:xfrm>
            <a:off x="1192422" y="9536187"/>
            <a:ext cx="1367361" cy="2000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00" spc="-20" dirty="0" smtClean="0">
                <a:solidFill>
                  <a:srgbClr val="606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[포트폴리오 추천 결과 화면]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02675" y="9536187"/>
            <a:ext cx="1367361" cy="2000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00" spc="-20" dirty="0" smtClean="0">
                <a:solidFill>
                  <a:srgbClr val="60606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[효율적 프론티어 / 백테스트 차트]</a:t>
            </a:r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62" y="7567651"/>
            <a:ext cx="2664590" cy="182643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5"/>
          <a:srcRect l="1" t="2969" r="-652" b="2056"/>
          <a:stretch/>
        </p:blipFill>
        <p:spPr>
          <a:xfrm>
            <a:off x="3611023" y="7507295"/>
            <a:ext cx="1008680" cy="19564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5"/>
          <a:srcRect l="1" t="2969" r="-652" b="2056"/>
          <a:stretch/>
        </p:blipFill>
        <p:spPr>
          <a:xfrm>
            <a:off x="4754015" y="7507295"/>
            <a:ext cx="1008680" cy="19564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5"/>
          <a:srcRect l="1" t="2969" r="-652" b="2056"/>
          <a:stretch/>
        </p:blipFill>
        <p:spPr>
          <a:xfrm>
            <a:off x="5897007" y="7507295"/>
            <a:ext cx="1008680" cy="195647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4020743" y="448378"/>
            <a:ext cx="1135130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ko-KR" sz="1400" spc="-50" dirty="0" smtClean="0">
                <a:latin typeface="SB 어그로 Medium" panose="02020603020101020101" pitchFamily="18" charset="-127"/>
                <a:ea typeface="SB 어그로 Medium" panose="02020603020101020101" pitchFamily="18" charset="-127"/>
                <a:cs typeface="KoPubWorld돋움체 Bold" panose="00000800000000000000" pitchFamily="2" charset="-127"/>
              </a:rPr>
              <a:t>[학번]</a:t>
            </a:r>
            <a:r>
              <a:rPr lang="ko-KR" altLang="en-US" sz="1400" spc="-50" dirty="0" smtClean="0">
                <a:latin typeface="SB 어그로 Medium" panose="02020603020101020101" pitchFamily="18" charset="-127"/>
                <a:ea typeface="SB 어그로 Medium" panose="02020603020101020101" pitchFamily="18" charset="-127"/>
                <a:cs typeface="KoPubWorld돋움체 Bold" panose="00000800000000000000" pitchFamily="2" charset="-127"/>
              </a:rPr>
              <a:t>김태홍</a:t>
            </a:r>
            <a:endParaRPr lang="ko-KR" altLang="en-US" sz="1400" spc="-50" dirty="0">
              <a:latin typeface="SB 어그로 Medium" panose="02020603020101020101" pitchFamily="18" charset="-127"/>
              <a:ea typeface="SB 어그로 Medium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3342952" y="348632"/>
            <a:ext cx="568800" cy="568800"/>
          </a:xfrm>
          <a:prstGeom prst="ellipse">
            <a:avLst/>
          </a:prstGeom>
          <a:solidFill>
            <a:srgbClr val="6C6B9D"/>
          </a:solidFill>
          <a:ln>
            <a:solidFill>
              <a:srgbClr val="7170A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/>
          <p:cNvGrpSpPr/>
          <p:nvPr/>
        </p:nvGrpSpPr>
        <p:grpSpPr>
          <a:xfrm>
            <a:off x="-2052008" y="1628784"/>
            <a:ext cx="1148192" cy="490969"/>
            <a:chOff x="6411174" y="3072733"/>
            <a:chExt cx="1148192" cy="490969"/>
          </a:xfrm>
        </p:grpSpPr>
        <p:sp>
          <p:nvSpPr>
            <p:cNvPr id="44" name="직사각형 43"/>
            <p:cNvSpPr/>
            <p:nvPr/>
          </p:nvSpPr>
          <p:spPr>
            <a:xfrm>
              <a:off x="6423512" y="3072733"/>
              <a:ext cx="1135854" cy="317555"/>
            </a:xfrm>
            <a:prstGeom prst="rect">
              <a:avLst/>
            </a:prstGeom>
            <a:solidFill>
              <a:srgbClr val="88BC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어플리케이션</a:t>
              </a:r>
              <a:endPara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6411174" y="3275361"/>
              <a:ext cx="1148192" cy="288341"/>
            </a:xfrm>
            <a:prstGeom prst="rect">
              <a:avLst/>
            </a:prstGeom>
            <a:solidFill>
              <a:srgbClr val="606060">
                <a:alpha val="16000"/>
              </a:srgb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-3352450" y="1628665"/>
            <a:ext cx="1148192" cy="490969"/>
            <a:chOff x="6411174" y="3072733"/>
            <a:chExt cx="1148192" cy="490969"/>
          </a:xfrm>
        </p:grpSpPr>
        <p:sp>
          <p:nvSpPr>
            <p:cNvPr id="47" name="직사각형 46"/>
            <p:cNvSpPr/>
            <p:nvPr/>
          </p:nvSpPr>
          <p:spPr>
            <a:xfrm>
              <a:off x="6423512" y="3072733"/>
              <a:ext cx="1135854" cy="317555"/>
            </a:xfrm>
            <a:prstGeom prst="rect">
              <a:avLst/>
            </a:prstGeom>
            <a:solidFill>
              <a:srgbClr val="E5B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 smtClean="0"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딥러닝</a:t>
              </a:r>
              <a:endPara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6411174" y="3275361"/>
              <a:ext cx="1148192" cy="288341"/>
            </a:xfrm>
            <a:prstGeom prst="rect">
              <a:avLst/>
            </a:prstGeom>
            <a:solidFill>
              <a:srgbClr val="606060">
                <a:alpha val="16000"/>
              </a:srgb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-4640554" y="1642784"/>
            <a:ext cx="1148192" cy="490969"/>
            <a:chOff x="5208479" y="3072614"/>
            <a:chExt cx="1148192" cy="490969"/>
          </a:xfrm>
        </p:grpSpPr>
        <p:sp>
          <p:nvSpPr>
            <p:cNvPr id="50" name="직사각형 49"/>
            <p:cNvSpPr/>
            <p:nvPr/>
          </p:nvSpPr>
          <p:spPr>
            <a:xfrm>
              <a:off x="5220817" y="3072614"/>
              <a:ext cx="1135854" cy="317555"/>
            </a:xfrm>
            <a:prstGeom prst="rect">
              <a:avLst/>
            </a:prstGeom>
            <a:solidFill>
              <a:srgbClr val="A196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 smtClean="0"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아두이노</a:t>
              </a:r>
              <a:endPara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5208479" y="3275242"/>
              <a:ext cx="1148192" cy="288341"/>
            </a:xfrm>
            <a:prstGeom prst="rect">
              <a:avLst/>
            </a:prstGeom>
            <a:solidFill>
              <a:srgbClr val="606060">
                <a:alpha val="16000"/>
              </a:srgb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-2052008" y="2356109"/>
            <a:ext cx="1148192" cy="490969"/>
            <a:chOff x="6411174" y="3072733"/>
            <a:chExt cx="1148192" cy="490969"/>
          </a:xfrm>
        </p:grpSpPr>
        <p:sp>
          <p:nvSpPr>
            <p:cNvPr id="53" name="직사각형 52"/>
            <p:cNvSpPr/>
            <p:nvPr/>
          </p:nvSpPr>
          <p:spPr>
            <a:xfrm>
              <a:off x="6423512" y="3072733"/>
              <a:ext cx="1135854" cy="317555"/>
            </a:xfrm>
            <a:prstGeom prst="rect">
              <a:avLst/>
            </a:prstGeom>
            <a:solidFill>
              <a:srgbClr val="E8AA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 smtClean="0"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블록체인</a:t>
              </a:r>
              <a:endPara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6411174" y="3275361"/>
              <a:ext cx="1148192" cy="288341"/>
            </a:xfrm>
            <a:prstGeom prst="rect">
              <a:avLst/>
            </a:prstGeom>
            <a:solidFill>
              <a:srgbClr val="606060">
                <a:alpha val="16000"/>
              </a:srgb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-3352450" y="2355990"/>
            <a:ext cx="1148192" cy="490969"/>
            <a:chOff x="6411174" y="3072733"/>
            <a:chExt cx="1148192" cy="490969"/>
          </a:xfrm>
        </p:grpSpPr>
        <p:sp>
          <p:nvSpPr>
            <p:cNvPr id="56" name="직사각형 55"/>
            <p:cNvSpPr/>
            <p:nvPr/>
          </p:nvSpPr>
          <p:spPr>
            <a:xfrm>
              <a:off x="6423512" y="3072733"/>
              <a:ext cx="1135854" cy="317555"/>
            </a:xfrm>
            <a:prstGeom prst="rect">
              <a:avLst/>
            </a:prstGeom>
            <a:solidFill>
              <a:srgbClr val="8FC5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smtClean="0">
                  <a:latin typeface="카페24 써라운드" pitchFamily="2" charset="-127"/>
                  <a:ea typeface="카페24 써라운드" pitchFamily="2" charset="-127"/>
                  <a:cs typeface="카페24 써라운드" pitchFamily="2" charset="-127"/>
                </a:rPr>
                <a:t>웹사이트</a:t>
              </a:r>
              <a:endParaRPr lang="ko-KR" altLang="en-US" sz="1200" dirty="0">
                <a:latin typeface="카페24 써라운드" pitchFamily="2" charset="-127"/>
                <a:ea typeface="카페24 써라운드" pitchFamily="2" charset="-127"/>
                <a:cs typeface="카페24 써라운드" pitchFamily="2" charset="-127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6411174" y="3275361"/>
              <a:ext cx="1148192" cy="288341"/>
            </a:xfrm>
            <a:prstGeom prst="rect">
              <a:avLst/>
            </a:prstGeom>
            <a:solidFill>
              <a:srgbClr val="606060">
                <a:alpha val="16000"/>
              </a:srgbClr>
            </a:solidFill>
            <a:ln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8" name="직사각형 57"/>
          <p:cNvSpPr/>
          <p:nvPr/>
        </p:nvSpPr>
        <p:spPr>
          <a:xfrm>
            <a:off x="-4907797" y="1170623"/>
            <a:ext cx="4267200" cy="2219546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/>
          <p:cNvSpPr txBox="1"/>
          <p:nvPr/>
        </p:nvSpPr>
        <p:spPr>
          <a:xfrm>
            <a:off x="-4698179" y="746143"/>
            <a:ext cx="383965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spc="-100" dirty="0" smtClean="0">
                <a:solidFill>
                  <a:srgbClr val="FF0000"/>
                </a:solidFill>
                <a:latin typeface="+mj-ea"/>
                <a:ea typeface="+mj-ea"/>
              </a:rPr>
              <a:t>해당되는 본인 개발분야 체크해주세요</a:t>
            </a:r>
            <a:r>
              <a:rPr lang="en-US" altLang="ko-KR" sz="1400" b="1" spc="-100" dirty="0" smtClean="0">
                <a:solidFill>
                  <a:srgbClr val="FF0000"/>
                </a:solidFill>
                <a:latin typeface="+mj-ea"/>
                <a:ea typeface="+mj-ea"/>
              </a:rPr>
              <a:t>!</a:t>
            </a:r>
            <a:endParaRPr lang="ko-KR" altLang="en-US" sz="1400" b="1" spc="-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-4800999" y="2998243"/>
            <a:ext cx="345566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ko-KR" b="1" spc="-100" dirty="0" smtClean="0">
                <a:solidFill>
                  <a:srgbClr val="FF0000"/>
                </a:solidFill>
                <a:latin typeface="+mj-ea"/>
                <a:ea typeface="+mj-ea"/>
              </a:rPr>
              <a:t>V</a:t>
            </a:r>
            <a:endParaRPr lang="ko-KR" altLang="en-US" b="1" spc="-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-4329067" y="3050202"/>
            <a:ext cx="2346436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b="1" spc="-100" dirty="0" smtClean="0">
                <a:solidFill>
                  <a:srgbClr val="FF0000"/>
                </a:solidFill>
                <a:latin typeface="+mj-ea"/>
                <a:ea typeface="+mj-ea"/>
              </a:rPr>
              <a:t>&lt;- </a:t>
            </a:r>
            <a:r>
              <a:rPr lang="ko-KR" altLang="en-US" sz="1200" b="1" spc="-100" dirty="0" smtClean="0">
                <a:solidFill>
                  <a:srgbClr val="FF0000"/>
                </a:solidFill>
                <a:latin typeface="+mj-ea"/>
                <a:ea typeface="+mj-ea"/>
              </a:rPr>
              <a:t>이걸로 해당되는 분야 위에 체크</a:t>
            </a:r>
            <a:endParaRPr lang="ko-KR" altLang="en-US" sz="1200" b="1" spc="-1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01845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1450</TotalTime>
  <Words>153</Words>
  <Application>Microsoft Office PowerPoint</Application>
  <PresentationFormat>사용자 지정</PresentationFormat>
  <Paragraphs>35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0" baseType="lpstr">
      <vt:lpstr>KoPubWorld돋움체 Bold</vt:lpstr>
      <vt:lpstr>KoPubWorld돋움체 Medium</vt:lpstr>
      <vt:lpstr>Calibri</vt:lpstr>
      <vt:lpstr>Calibri Light</vt:lpstr>
      <vt:lpstr>SB 어그로 Medium</vt:lpstr>
      <vt:lpstr>카페24 써라운드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B10342</dc:creator>
  <cp:lastModifiedBy>B11506</cp:lastModifiedBy>
  <cp:revision>230</cp:revision>
  <cp:lastPrinted>2021-10-20T03:02:59Z</cp:lastPrinted>
  <dcterms:created xsi:type="dcterms:W3CDTF">2021-09-27T04:34:42Z</dcterms:created>
  <dcterms:modified xsi:type="dcterms:W3CDTF">2026-10-14T08:44:55Z</dcterms:modified>
</cp:coreProperties>
</file>